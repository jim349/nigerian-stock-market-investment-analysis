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Score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E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6F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C0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6B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8A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ZENITH BANK</c:v>
                  </c:pt>
                  <c:pt idx="1">
                    <c:v>GTCO</c:v>
                  </c:pt>
                  <c:pt idx="2">
                    <c:v>MTN</c:v>
                  </c:pt>
                  <c:pt idx="3">
                    <c:v>DANGCEM</c:v>
                  </c:pt>
                  <c:pt idx="4">
                    <c:v>SEPLAT</c:v>
                  </c:pt>
                  <c:pt idx="5">
                    <c:v>PRESCO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20.15</c:v>
                </c:pt>
                <c:pt idx="1">
                  <c:v>25.11</c:v>
                </c:pt>
                <c:pt idx="2">
                  <c:v>27.72</c:v>
                </c:pt>
                <c:pt idx="3">
                  <c:v>47.3</c:v>
                </c:pt>
                <c:pt idx="4">
                  <c:v>54.53</c:v>
                </c:pt>
                <c:pt idx="5">
                  <c:v>67.84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F1E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b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ROE (%)</c:v>
                </c:pt>
              </c:strCache>
            </c:strRef>
          </c:tx>
          <c:spPr>
            <a:solidFill>
              <a:srgbClr val="0E8A8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6F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6B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C0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SEPLAT</c:v>
                  </c:pt>
                  <c:pt idx="1">
                    <c:v>ZENITH BANK</c:v>
                  </c:pt>
                  <c:pt idx="2">
                    <c:v>GTCO</c:v>
                  </c:pt>
                  <c:pt idx="3">
                    <c:v>DANGCEM</c:v>
                  </c:pt>
                  <c:pt idx="4">
                    <c:v>PRESCO</c:v>
                  </c:pt>
                  <c:pt idx="5">
                    <c:v>MTN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4.84</c:v>
                </c:pt>
                <c:pt idx="1">
                  <c:v>21.98</c:v>
                </c:pt>
                <c:pt idx="2">
                  <c:v>27.02</c:v>
                </c:pt>
                <c:pt idx="3">
                  <c:v>31.96</c:v>
                </c:pt>
                <c:pt idx="4">
                  <c:v>44.95</c:v>
                </c:pt>
                <c:pt idx="5">
                  <c:v>164.38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Growth (%)</c:v>
                </c:pt>
              </c:strCache>
            </c:strRef>
          </c:tx>
          <c:spPr>
            <a:solidFill>
              <a:srgbClr val="D4AC0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AC0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6B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A6F1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844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MTN</c:v>
                  </c:pt>
                  <c:pt idx="1">
                    <c:v>SEPLAT</c:v>
                  </c:pt>
                  <c:pt idx="2">
                    <c:v>DANGCEM</c:v>
                  </c:pt>
                  <c:pt idx="3">
                    <c:v>ZENITH BANK</c:v>
                  </c:pt>
                  <c:pt idx="4">
                    <c:v>GTCO</c:v>
                  </c:pt>
                  <c:pt idx="5">
                    <c:v>PRESCO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-52.53</c:v>
                </c:pt>
                <c:pt idx="1">
                  <c:v>-0.66</c:v>
                </c:pt>
                <c:pt idx="2">
                  <c:v>33.64</c:v>
                </c:pt>
                <c:pt idx="3">
                  <c:v>50.65</c:v>
                </c:pt>
                <c:pt idx="4">
                  <c:v>55.24</c:v>
                </c:pt>
                <c:pt idx="5">
                  <c:v>78.08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1A6B9A">
              <a:alpha val="20000"/>
            </a:srgbClr>
          </a:solidFill>
          <a:ln w="12700">
            <a:solidFill>
              <a:srgbClr val="1A6B9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0E8A82">
              <a:alpha val="20000"/>
            </a:srgbClr>
          </a:solidFill>
          <a:ln w="12700">
            <a:solidFill>
              <a:srgbClr val="0E8A8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LISTED COMPANIES  •  2020 – 2025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Performance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of Six Nigerian Listed Companies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Fundamental Financial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1325880" cy="347472"/>
          </a:xfrm>
          <a:prstGeom prst="rect">
            <a:avLst>
              <a:gd name="adj" fmla="val 13158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06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0240" y="4206240"/>
            <a:ext cx="1325880" cy="347472"/>
          </a:xfrm>
          <a:prstGeom prst="rect">
            <a:avLst>
              <a:gd name="adj" fmla="val 13158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4206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SEPLAT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4206240"/>
            <a:ext cx="1325880" cy="347472"/>
          </a:xfrm>
          <a:prstGeom prst="rect">
            <a:avLst>
              <a:gd name="adj" fmla="val 13158"/>
            </a:avLst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206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DANGCEM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4206240"/>
            <a:ext cx="1325880" cy="347472"/>
          </a:xfrm>
          <a:prstGeom prst="rect">
            <a:avLst>
              <a:gd name="adj" fmla="val 13158"/>
            </a:avLst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4206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4206240"/>
            <a:ext cx="1325880" cy="347472"/>
          </a:xfrm>
          <a:prstGeom prst="rect">
            <a:avLst>
              <a:gd name="adj" fmla="val 13158"/>
            </a:avLst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206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0" y="4206240"/>
            <a:ext cx="1325880" cy="347472"/>
          </a:xfrm>
          <a:prstGeom prst="rect">
            <a:avLst>
              <a:gd name="adj" fmla="val 1315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4206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BANK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Annual Reports (2020–2025)  •  Analysis: Jimie Idiong  •  Tools: Microsoft Excel | Tableau Public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MOTIVATION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personal investor with holdings across six publicly listed Nigerian companies spanning three different sectors, I needed a structured, data-driven way to evaluate which companies were actually performing — not just one metric, but across profitability, growth, and financial health simultaneously.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321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377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company delivers the best risk-adjusted return for a long-term investor?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32104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017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Banking, Agriculture, Oil &amp; Gas, Telecoms, and Industrial sectors compare?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321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57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657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companies show warning signs — negative ROE, declining profits, or heavy debt?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8321040" cy="548640"/>
          </a:xfrm>
          <a:prstGeom prst="rect">
            <a:avLst/>
          </a:prstGeom>
          <a:solidFill>
            <a:srgbClr val="E8ECF0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297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2976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single composite Investment Score rank companies objectively across all metrics?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companies · 3 sectors · 6 years (2020–2025) · 36 annual observations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Description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1097280" cy="457200"/>
          </a:xfrm>
          <a:prstGeom prst="rect">
            <a:avLst/>
          </a:prstGeom>
          <a:solidFill>
            <a:srgbClr val="12375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54480" y="1207008"/>
            <a:ext cx="3383280" cy="457200"/>
          </a:xfrm>
          <a:prstGeom prst="rect">
            <a:avLst/>
          </a:prstGeom>
          <a:solidFill>
            <a:srgbClr val="12375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2070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83480" y="1207008"/>
            <a:ext cx="1920240" cy="457200"/>
          </a:xfrm>
          <a:prstGeom prst="rect">
            <a:avLst/>
          </a:prstGeom>
          <a:solidFill>
            <a:srgbClr val="12375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070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1207008"/>
            <a:ext cx="1371600" cy="457200"/>
          </a:xfrm>
          <a:prstGeom prst="rect">
            <a:avLst/>
          </a:prstGeom>
          <a:solidFill>
            <a:srgbClr val="12375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207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682496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" y="1773936"/>
            <a:ext cx="987552" cy="274320"/>
          </a:xfrm>
          <a:prstGeom prst="rect">
            <a:avLst>
              <a:gd name="adj" fmla="val 1333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6824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54480" y="1682496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16824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Presco Plc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16824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6824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1682496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682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2157984"/>
            <a:ext cx="10972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" y="2249424"/>
            <a:ext cx="987552" cy="274320"/>
          </a:xfrm>
          <a:prstGeom prst="rect">
            <a:avLst>
              <a:gd name="adj" fmla="val 13333"/>
            </a:avLst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1579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SEPLAT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554480" y="2157984"/>
            <a:ext cx="33832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21579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Seplat Energy Plc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83480" y="2157984"/>
            <a:ext cx="19202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1579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2157984"/>
            <a:ext cx="13716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2157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2633472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" y="2724912"/>
            <a:ext cx="987552" cy="274320"/>
          </a:xfrm>
          <a:prstGeom prst="rect">
            <a:avLst>
              <a:gd name="adj" fmla="val 13333"/>
            </a:avLst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6334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DANGCEM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4480" y="2633472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26334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Dangote Cement Plc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83480" y="2633472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Goods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49440" y="2633472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2633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3108960"/>
            <a:ext cx="10972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" y="3200400"/>
            <a:ext cx="987552" cy="274320"/>
          </a:xfrm>
          <a:prstGeom prst="rect">
            <a:avLst>
              <a:gd name="adj" fmla="val 13333"/>
            </a:avLst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554480" y="3108960"/>
            <a:ext cx="33832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5448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Nigeria Communications Network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83480" y="3108960"/>
            <a:ext cx="19202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Telecomunications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49440" y="3108960"/>
            <a:ext cx="13716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11480" y="3584448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" y="3675888"/>
            <a:ext cx="987552" cy="274320"/>
          </a:xfrm>
          <a:prstGeom prst="rect">
            <a:avLst>
              <a:gd name="adj" fmla="val 13333"/>
            </a:avLst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3584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554480" y="3584448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554480" y="35844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Guaranty Trust Holding Company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983480" y="3584448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83480" y="3584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949440" y="358444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9440" y="3584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2020–2025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11480" y="4059936"/>
            <a:ext cx="10972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6344" y="4151376"/>
            <a:ext cx="987552" cy="274320"/>
          </a:xfrm>
          <a:prstGeom prst="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0599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554480" y="4059936"/>
            <a:ext cx="33832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54480" y="40599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Bank Plc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983480" y="4059936"/>
            <a:ext cx="19202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83480" y="40599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949440" y="4059936"/>
            <a:ext cx="13716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CE3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49440" y="40599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2020–2025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11480" y="4224528"/>
            <a:ext cx="1572768" cy="713232"/>
          </a:xfrm>
          <a:prstGeom prst="rect">
            <a:avLst/>
          </a:prstGeom>
          <a:solidFill>
            <a:srgbClr val="12375A"/>
          </a:solidFill>
          <a:ln w="12700">
            <a:solidFill>
              <a:srgbClr val="12375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2600" dirty="0"/>
          </a:p>
        </p:txBody>
      </p:sp>
      <p:sp>
        <p:nvSpPr>
          <p:cNvPr id="70" name="Text 68"/>
          <p:cNvSpPr/>
          <p:nvPr/>
        </p:nvSpPr>
        <p:spPr>
          <a:xfrm>
            <a:off x="411480" y="4590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112264" y="4224528"/>
            <a:ext cx="1572768" cy="713232"/>
          </a:xfrm>
          <a:prstGeom prst="rect">
            <a:avLst/>
          </a:prstGeom>
          <a:solidFill>
            <a:srgbClr val="12375A"/>
          </a:solidFill>
          <a:ln w="12700">
            <a:solidFill>
              <a:srgbClr val="12375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12264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73" name="Text 71"/>
          <p:cNvSpPr/>
          <p:nvPr/>
        </p:nvSpPr>
        <p:spPr>
          <a:xfrm>
            <a:off x="2112264" y="4590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813048" y="4224528"/>
            <a:ext cx="1572768" cy="713232"/>
          </a:xfrm>
          <a:prstGeom prst="rect">
            <a:avLst/>
          </a:prstGeom>
          <a:solidFill>
            <a:srgbClr val="12375A"/>
          </a:solidFill>
          <a:ln w="12700">
            <a:solidFill>
              <a:srgbClr val="12375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13048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76" name="Text 74"/>
          <p:cNvSpPr/>
          <p:nvPr/>
        </p:nvSpPr>
        <p:spPr>
          <a:xfrm>
            <a:off x="3813048" y="4590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Telecoms)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513832" y="4224528"/>
            <a:ext cx="1572768" cy="713232"/>
          </a:xfrm>
          <a:prstGeom prst="rect">
            <a:avLst/>
          </a:prstGeom>
          <a:solidFill>
            <a:srgbClr val="12375A"/>
          </a:solidFill>
          <a:ln w="12700">
            <a:solidFill>
              <a:srgbClr val="12375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13832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79" name="Text 77"/>
          <p:cNvSpPr/>
          <p:nvPr/>
        </p:nvSpPr>
        <p:spPr>
          <a:xfrm>
            <a:off x="5513832" y="4590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2020–2025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214616" y="4224528"/>
            <a:ext cx="1572768" cy="713232"/>
          </a:xfrm>
          <a:prstGeom prst="rect">
            <a:avLst/>
          </a:prstGeom>
          <a:solidFill>
            <a:srgbClr val="12375A"/>
          </a:solidFill>
          <a:ln w="12700">
            <a:solidFill>
              <a:srgbClr val="12375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14616" y="4224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82" name="Text 80"/>
          <p:cNvSpPr/>
          <p:nvPr/>
        </p:nvSpPr>
        <p:spPr>
          <a:xfrm>
            <a:off x="7214616" y="4590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Annual Reports 2020–2025  •  All figures in Nigerian Naira unless noted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Preparation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84048" cy="384048"/>
          </a:xfrm>
          <a:prstGeom prst="ellipse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the raw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151790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structured RAW_DATA sheet with 36 rows (6 companies × 6 years) and 14 columns: Company, Ticker, Sector, Year, Total Assets, Total Liabilities, Equity, PBT, PAT, Net Interest Income, Fees, EPS, DPS, and Retained Earnings.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039112"/>
            <a:ext cx="384048" cy="384048"/>
          </a:xfrm>
          <a:prstGeom prst="ellipse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025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22585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Presco's 2020 data excluded from consolidated totals (first consolidated report was 2021, post-Siat acquisition). DPS not disclosed in 2022–2023 for Presco — handled as excluded data points, not imputed.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2779776"/>
            <a:ext cx="384048" cy="384048"/>
          </a:xfrm>
          <a:prstGeom prst="ellipse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7432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standardisation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29992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Seplat declares dividends in USD. DPS was converted to Nigerian Naira using the CBN official year-end exchange rate for each year to ensure comparability across all six companies.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" y="3520440"/>
            <a:ext cx="384048" cy="38404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4838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derived ratios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373989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sheet auto-calculated: ROE (PAT ÷ Equity), ROA (PAT ÷ Total Assets), Debt-to-Equity (Liabilities ÷ Equity), Equity Ratio (Equity ÷ Assets), Year-on-Year Asset Growth %, and Profit Growth %.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" y="4261104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224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anomalies &amp; negatives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0120" y="448056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company-years showed negative PAT (MTN 2023–2024, Seplat 2020). These were preserved as-is to reflect real financial stress — not removed — since negative profitability is analytically meaningful.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workbook: 6 sheets — Data_Dictionary | RAW_DATA | COMPANY SUMMARY | RATIOS | Score Sheet | INVESTMENT_NOTES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FRAMEWORK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— The Investment Score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Investment Score was built in three layers, each normalised to 0–100 using min-max scaling across all six companies: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743200" cy="2423160"/>
          </a:xfrm>
          <a:prstGeom prst="rect">
            <a:avLst/>
          </a:prstGeom>
          <a:solidFill>
            <a:srgbClr val="F5F7FA"/>
          </a:solidFill>
          <a:ln w="19050">
            <a:solidFill>
              <a:srgbClr val="1A6B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83080"/>
            <a:ext cx="2743200" cy="6400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Score (40%)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ROE (Return on Equity)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ROA (Return on Assets)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8712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EPS (Earnings Per Share)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DPS (Dividend Per Share)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3913632"/>
            <a:ext cx="2596896" cy="25603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9136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Average(ROE_score, ROA_score, EPS_score, DPS_score)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1783080"/>
            <a:ext cx="2743200" cy="2423160"/>
          </a:xfrm>
          <a:prstGeom prst="rect">
            <a:avLst/>
          </a:prstGeom>
          <a:solidFill>
            <a:srgbClr val="F5F7FA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783080"/>
            <a:ext cx="2743200" cy="640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Score (30%)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37560" y="22128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Asset Growth % YoY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542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Profit Growth % YoY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9272" y="3913632"/>
            <a:ext cx="2596896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39136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Average(Asset_Growth_score, Profit_Growth_score)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1783080"/>
            <a:ext cx="2743200" cy="2423160"/>
          </a:xfrm>
          <a:prstGeom prst="rect">
            <a:avLst/>
          </a:prstGeom>
          <a:solidFill>
            <a:srgbClr val="F5F7FA"/>
          </a:solidFill>
          <a:ln w="19050">
            <a:solidFill>
              <a:srgbClr val="0E8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783080"/>
            <a:ext cx="2743200" cy="64008"/>
          </a:xfrm>
          <a:prstGeom prst="rect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Score (30%)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17920" y="22128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Equity Ratio (Equity ÷ Assets)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2542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Debt-to-Equity (inverted — lower is better)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28712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ROA (leverage-adjusted)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9632" y="3913632"/>
            <a:ext cx="2596896" cy="256032"/>
          </a:xfrm>
          <a:prstGeom prst="rect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39136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0.3×ROA_score + 0.4×Equity_score + 0.3×Debt_score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325112"/>
            <a:ext cx="8412480" cy="475488"/>
          </a:xfrm>
          <a:prstGeom prst="rect">
            <a:avLst/>
          </a:prstGeom>
          <a:solidFill>
            <a:srgbClr val="0F1E2D"/>
          </a:solidFill>
          <a:ln w="12700">
            <a:solidFill>
              <a:srgbClr val="0F1E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2511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Investment Score  =  (Profitability × 40%)  +  (Growth × 30%)  +  (Financial Health × 30%)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normalisation: Score = (Value − Min) ÷ (Max − Min) × 100  |  Applied independently per metric across all 6 companies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2375A"/>
          </a:solidFill>
          <a:ln w="12700">
            <a:solidFill>
              <a:srgbClr val="1237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2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DASHBOARD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Preview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70432"/>
            <a:ext cx="841248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Tableau Public  •  Source: Nigerian_Stock_Fundamental_Data.xlsx  •  Analysis: Jimie Idiong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Metrics at a Glance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Investment Score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468880" y="15270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67.84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Balanced: profit + growth + health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59736"/>
            <a:ext cx="411480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59736"/>
            <a:ext cx="4114800" cy="6400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51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ROE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7797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468880" y="27523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164.4%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" y="3282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shareholder returns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685032"/>
            <a:ext cx="411480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85032"/>
            <a:ext cx="4114800" cy="64008"/>
          </a:xfrm>
          <a:prstGeom prst="rect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EPS (₦)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005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8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SEPLAT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2468880" y="39776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E8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409.9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2920" y="45079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EPS in 2025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1234440"/>
            <a:ext cx="411480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234440"/>
            <a:ext cx="4114800" cy="64008"/>
          </a:xfrm>
          <a:prstGeom prst="rect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DPS (₦)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8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SEPLAT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675120" y="15270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E8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379.4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70916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dividend payer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459736"/>
            <a:ext cx="411480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459736"/>
            <a:ext cx="4114800" cy="6400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551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Growth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09160" y="27797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6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GTCO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6675120" y="27523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A6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219.0%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709160" y="3282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 surge 2023–2024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3685032"/>
            <a:ext cx="411480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685032"/>
            <a:ext cx="4114800" cy="64008"/>
          </a:xfrm>
          <a:prstGeom prst="rect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Asset Growth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09160" y="4005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8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SEPLAT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6675120" y="39776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E8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243.3%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4709160" y="45079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single-year asset growth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figures computed over available years 2020–2025 per company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RANKING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Investment Score by Company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14300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Profitability (40%) + Growth (30%) + Financial Health (30%)  •  Scaled 0–100 via min-max normalisation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&amp; GROWTH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ROE and Profit Growth Comparison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Return on Equity (%)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26464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Profit Growth (%)</a:t>
            </a:r>
            <a:endParaRPr lang="en-US" sz="11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663440" y="1426464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MTN's negative average profit growth driven by FX-linked losses in 2023–2024; recovery seen in 2025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Reveals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80160"/>
            <a:ext cx="365760" cy="3657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PRESCO scores highest overall (67.84)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6968" y="148132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strongest asset growth (74.2% avg) and profit growth (78.1% avg) — balanced across all three score components, not a one-metric outlier.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2048256"/>
            <a:ext cx="365760" cy="365760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19751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leads ROE at 164.4% — but with major caveats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86968" y="224942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 ROE is partly a function of very thin (or negative) equity base. MTN reported net losses in 2023 and 2024 due to FX-related exposure, pulling average profit growth to −52.5%.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2816352"/>
            <a:ext cx="365760" cy="365760"/>
          </a:xfrm>
          <a:prstGeom prst="ellipse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" y="2743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SEPLAT dominates EPS (409.9) and DPS (379.4)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86968" y="3017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shareholder value creation metrics. Despite negative PAT in 2020, the 2024–2025 recovery was dramatic. Best choice for income-focused investors.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3584448"/>
            <a:ext cx="365760" cy="365760"/>
          </a:xfrm>
          <a:prstGeom prst="ellipse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35112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GTCO leads banking sector profit growth (55.2%)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6968" y="378561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 overall shows solid growth post-2022. GTCO's 219% highest annual growth in 2023 reflects the sector-wide revaluation uplift from naira devaluation.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4352544"/>
            <a:ext cx="365760" cy="365760"/>
          </a:xfrm>
          <a:prstGeom prst="ellipse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42793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Oil and Gas outperform Banking on growth metrics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6968" y="455371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PRESCO (Agriculture) and SEPLAT (Oil &amp; Gas) both rank above all three banking stocks on the overall investment score — a sector-level finding for portfolio diversification.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= arithmetic mean over available years 2020–2025 per company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GUIDANCE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0" cy="1143000"/>
          </a:xfrm>
          <a:prstGeom prst="rect">
            <a:avLst/>
          </a:prstGeom>
          <a:solidFill>
            <a:srgbClr val="F5F7FA"/>
          </a:solidFill>
          <a:ln w="1524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114800" cy="640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30759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ACCUMULATE — PRESCO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1645920"/>
            <a:ext cx="3877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investment score (67.84). Balanced growth across assets, profits and financial health. Suitable for long-term capital appreciation. Continue accumulating.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4114800" cy="1143000"/>
          </a:xfrm>
          <a:prstGeom prst="rect">
            <a:avLst/>
          </a:prstGeom>
          <a:solidFill>
            <a:srgbClr val="F5F7FA"/>
          </a:solidFill>
          <a:ln w="15240">
            <a:solidFill>
              <a:srgbClr val="0E8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50592"/>
            <a:ext cx="4114800" cy="64008"/>
          </a:xfrm>
          <a:prstGeom prst="rect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87752"/>
            <a:ext cx="347472" cy="347472"/>
          </a:xfrm>
          <a:prstGeom prst="ellipse">
            <a:avLst/>
          </a:prstGeom>
          <a:solidFill>
            <a:srgbClr val="0E8A82"/>
          </a:solidFill>
          <a:ln w="12700">
            <a:solidFill>
              <a:srgbClr val="0E8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256946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for INCOME — SEPLAT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" y="2907792"/>
            <a:ext cx="3877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Income-focused investors should hold SEPLAT for its superior EPS (409.9) and DPS (379.4). Monitor oil price exposure and USD dividend conversion risk.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12464"/>
            <a:ext cx="4114800" cy="1143000"/>
          </a:xfrm>
          <a:prstGeom prst="rect">
            <a:avLst/>
          </a:prstGeom>
          <a:solidFill>
            <a:srgbClr val="F5F7FA"/>
          </a:solidFill>
          <a:ln w="15240">
            <a:solidFill>
              <a:srgbClr val="D4AC0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12464"/>
            <a:ext cx="4114800" cy="6400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49624"/>
            <a:ext cx="347472" cy="347472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383133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MTN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" y="4169664"/>
            <a:ext cx="3877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ROE but 2023–2024 FX losses are a red flag. Wait for two consecutive profitable years before adding. Strong 2025 recovery (EPS ₦53.07) is encouraging.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1188720"/>
            <a:ext cx="4114800" cy="1143000"/>
          </a:xfrm>
          <a:prstGeom prst="rect">
            <a:avLst/>
          </a:prstGeom>
          <a:solidFill>
            <a:srgbClr val="F5F7FA"/>
          </a:solidFill>
          <a:ln w="15240">
            <a:solidFill>
              <a:srgbClr val="CA6F1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188720"/>
            <a:ext cx="4114800" cy="6400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325880"/>
            <a:ext cx="347472" cy="347472"/>
          </a:xfrm>
          <a:prstGeom prst="ellipse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48072" y="130759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— GTCO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36592" y="1645920"/>
            <a:ext cx="3877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profit growth trend in banking sector. GTCO's 219% highest annual profit growth shows momentum. Evaluate alongside Zenith Bank using multiple metrics.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450592"/>
            <a:ext cx="4114800" cy="1143000"/>
          </a:xfrm>
          <a:prstGeom prst="rect">
            <a:avLst/>
          </a:prstGeom>
          <a:solidFill>
            <a:srgbClr val="F5F7FA"/>
          </a:solidFill>
          <a:ln w="15240">
            <a:solidFill>
              <a:srgbClr val="1A6B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450592"/>
            <a:ext cx="4114800" cy="6400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587752"/>
            <a:ext cx="347472" cy="347472"/>
          </a:xfrm>
          <a:prstGeom prst="ellipse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48072" y="256946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DIVERSIFICATION INSIGHT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36592" y="2907792"/>
            <a:ext cx="3877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and Oil &amp; Gas both outrank all Banking stocks in this analysis. Portfolio diversification beyond traditional banking improves the overall risk-return profile.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3712464"/>
            <a:ext cx="4114800" cy="1143000"/>
          </a:xfrm>
          <a:prstGeom prst="rect">
            <a:avLst/>
          </a:prstGeom>
          <a:solidFill>
            <a:srgbClr val="F5F7FA"/>
          </a:solidFill>
          <a:ln w="1524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3712464"/>
            <a:ext cx="41148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849624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48072" y="383133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single-metric decisions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736592" y="4169664"/>
            <a:ext cx="3877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alone is misleading — MTN's 164% ROE co-exists with years of net losses. Always use a composite scoring approach before making allocation decisions.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are based on fundamental data analysis and are not financial advice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2375A"/>
          </a:solidFill>
          <a:ln w="12700">
            <a:solidFill>
              <a:srgbClr val="1237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23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PROCESS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Used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605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4160520" cy="5120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Microsoft Excel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865376"/>
            <a:ext cx="219456" cy="21945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105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RAW_DATA sheet (36 rows, 14 cols)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219456" cy="21945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408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sheet with live formula links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219456" cy="21945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7121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SUMMARY with AVERAGEIF/SUMIF/MAXIFS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456432"/>
            <a:ext cx="219456" cy="21945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015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Sheet: min-max normalisation across 6 companies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986784"/>
            <a:ext cx="219456" cy="21945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319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INVESTMENT_NOTES: year-by-year narrative commentary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234440"/>
            <a:ext cx="41605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234440"/>
            <a:ext cx="4160520" cy="512064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234440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Tableau Public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83480" y="1865376"/>
            <a:ext cx="219456" cy="219456"/>
          </a:xfrm>
          <a:prstGeom prst="ellipse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8105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directly to Excel workbook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2395728"/>
            <a:ext cx="219456" cy="219456"/>
          </a:xfrm>
          <a:prstGeom prst="ellipse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3408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6-chart interactive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2926080"/>
            <a:ext cx="219456" cy="219456"/>
          </a:xfrm>
          <a:prstGeom prst="ellipse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87121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consistent company colour coding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83480" y="3456432"/>
            <a:ext cx="219456" cy="219456"/>
          </a:xfrm>
          <a:prstGeom prst="ellipse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34015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cards for headline metrics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3986784"/>
            <a:ext cx="219456" cy="219456"/>
          </a:xfrm>
          <a:prstGeom prst="ellipse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39319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publicly for portfolio sharing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773168"/>
            <a:ext cx="1554480" cy="274320"/>
          </a:xfrm>
          <a:prstGeom prst="rect">
            <a:avLst>
              <a:gd name="adj" fmla="val 13333"/>
            </a:avLst>
          </a:prstGeom>
          <a:solidFill>
            <a:srgbClr val="E8ECF0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47088" y="4773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11680" y="4773168"/>
            <a:ext cx="1554480" cy="274320"/>
          </a:xfrm>
          <a:prstGeom prst="rect">
            <a:avLst>
              <a:gd name="adj" fmla="val 13333"/>
            </a:avLst>
          </a:prstGeom>
          <a:solidFill>
            <a:srgbClr val="E8ECF0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RAW_DATA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84448" y="4773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749040" y="4773168"/>
            <a:ext cx="1554480" cy="274320"/>
          </a:xfrm>
          <a:prstGeom prst="rect">
            <a:avLst>
              <a:gd name="adj" fmla="val 13333"/>
            </a:avLst>
          </a:prstGeom>
          <a:solidFill>
            <a:srgbClr val="E8ECF0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&amp; Scores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21808" y="4773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0" y="4773168"/>
            <a:ext cx="1554480" cy="274320"/>
          </a:xfrm>
          <a:prstGeom prst="rect">
            <a:avLst>
              <a:gd name="adj" fmla="val 13333"/>
            </a:avLst>
          </a:prstGeom>
          <a:solidFill>
            <a:srgbClr val="E8ECF0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59168" y="4773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23760" y="4773168"/>
            <a:ext cx="1554480" cy="274320"/>
          </a:xfrm>
          <a:prstGeom prst="rect">
            <a:avLst>
              <a:gd name="adj" fmla="val 13333"/>
            </a:avLst>
          </a:prstGeom>
          <a:solidFill>
            <a:srgbClr val="12375A"/>
          </a:solidFill>
          <a:ln w="12700">
            <a:solidFill>
              <a:srgbClr val="1237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5486400" cy="5486400"/>
          </a:xfrm>
          <a:prstGeom prst="ellipse">
            <a:avLst/>
          </a:prstGeom>
          <a:solidFill>
            <a:srgbClr val="1A6B9A">
              <a:alpha val="18000"/>
            </a:srgbClr>
          </a:solidFill>
          <a:ln w="12700">
            <a:solidFill>
              <a:srgbClr val="1A6B9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371600"/>
            <a:ext cx="3474720" cy="3474720"/>
          </a:xfrm>
          <a:prstGeom prst="ellipse">
            <a:avLst/>
          </a:prstGeom>
          <a:solidFill>
            <a:srgbClr val="12375A">
              <a:alpha val="75000"/>
            </a:srgbClr>
          </a:solidFill>
          <a:ln w="12700">
            <a:solidFill>
              <a:srgbClr val="12375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beats</a:t>
            </a:r>
            <a:endParaRPr lang="en-US" sz="4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guesswork.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companies. One composite score.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investment decisions.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Jimie Idiong  |  Data: Annual Reports 2020–2025  |  Tools: Microsoft Excel | Tableau Public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Performance Dashboard</dc:title>
  <dc:subject>PptxGenJS Presentation</dc:subject>
  <dc:creator>PptxGenJS</dc:creator>
  <cp:lastModifiedBy>PptxGenJS</cp:lastModifiedBy>
  <cp:revision>1</cp:revision>
  <dcterms:created xsi:type="dcterms:W3CDTF">2026-07-06T22:34:49Z</dcterms:created>
  <dcterms:modified xsi:type="dcterms:W3CDTF">2026-07-06T22:34:49Z</dcterms:modified>
</cp:coreProperties>
</file>